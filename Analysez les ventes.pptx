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6" r:id="rId1"/>
  </p:sldMasterIdLst>
  <p:notesMasterIdLst>
    <p:notesMasterId r:id="rId15"/>
  </p:notesMasterIdLst>
  <p:sldIdLst>
    <p:sldId id="256" r:id="rId2"/>
    <p:sldId id="258" r:id="rId3"/>
    <p:sldId id="262" r:id="rId4"/>
    <p:sldId id="263" r:id="rId5"/>
    <p:sldId id="273" r:id="rId6"/>
    <p:sldId id="265" r:id="rId7"/>
    <p:sldId id="267" r:id="rId8"/>
    <p:sldId id="268" r:id="rId9"/>
    <p:sldId id="272" r:id="rId10"/>
    <p:sldId id="271" r:id="rId11"/>
    <p:sldId id="274" r:id="rId12"/>
    <p:sldId id="270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76096"/>
  </p:normalViewPr>
  <p:slideViewPr>
    <p:cSldViewPr snapToGrid="0">
      <p:cViewPr>
        <p:scale>
          <a:sx n="78" d="100"/>
          <a:sy n="78" d="100"/>
        </p:scale>
        <p:origin x="1928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234FB-C2F6-A140-8202-C7D23AB82A3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140AE-2EDE-8443-9185-B2E4E1FC16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21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380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51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198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F299-FDD0-A02C-878D-ABB23F28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81041F-85BD-5246-A6A3-BE93909DF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76C10B-DD35-5E11-CD56-95A82E807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AE33A5-2C31-19A3-D72B-CD24FE861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95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480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819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4574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94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806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0B1D-3C21-E12F-D099-0C9EC38D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7A3DE2E-ED1E-FA53-A2D5-5875FEFB0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BCF00E-4BF2-629A-AE1D-89C6F456E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B9EC75-89B6-1D11-7192-672DEFF46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002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40AE-2EDE-8443-9185-B2E4E1FC165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92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B93E-2199-FB4C-80C1-174584CD60F4}" type="datetime1">
              <a:rPr lang="fr-FR" smtClean="0"/>
              <a:t>16/02/2026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15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58A9D-8D79-354F-80FC-C225772BBDFC}" type="datetime1">
              <a:rPr lang="fr-FR" smtClean="0"/>
              <a:t>16/02/2026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6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7141139-7F46-BE48-90B3-2BC31FF39A74}" type="datetime1">
              <a:rPr lang="fr-FR" smtClean="0"/>
              <a:t>16/02/2026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94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362E-3DFB-7447-B74B-01D3D75E771D}" type="datetime1">
              <a:rPr lang="fr-FR" smtClean="0"/>
              <a:t>16/02/2026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2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7C1A0-EA62-2849-8AF1-3F5B128CF3BD}" type="datetime1">
              <a:rPr lang="fr-FR" smtClean="0"/>
              <a:t>16/02/2026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4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F19B-A5E5-874E-AC87-F6AD57F5B3F5}" type="datetime1">
              <a:rPr lang="fr-FR" smtClean="0"/>
              <a:t>16/02/2026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7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0010-044F-B840-8DAD-481908D2B77C}" type="datetime1">
              <a:rPr lang="fr-FR" smtClean="0"/>
              <a:t>16/02/2026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2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108A-3188-DB49-8648-05A7B5EE3534}" type="datetime1">
              <a:rPr lang="fr-FR" smtClean="0"/>
              <a:t>16/02/2026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8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AA61A8C-DCC5-5242-A870-6A9EB61F4677}" type="datetime1">
              <a:rPr lang="fr-FR" smtClean="0"/>
              <a:t>16/02/2026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6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45CEA-6312-AD49-9045-4B9F8E7B84D5}" type="datetime1">
              <a:rPr lang="fr-FR" smtClean="0"/>
              <a:t>16/02/2026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5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309A-9F88-D449-889C-32BED98A8BE9}" type="datetime1">
              <a:rPr lang="fr-FR" smtClean="0"/>
              <a:t>16/02/2026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8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8729D04-1A46-5646-99CA-E042EDE2E1E1}" type="datetime1">
              <a:rPr lang="fr-FR" smtClean="0"/>
              <a:t>16/02/2026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43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10" Type="http://schemas.openxmlformats.org/officeDocument/2006/relationships/image" Target="../media/image8.svg"/><Relationship Id="rId4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10" Type="http://schemas.openxmlformats.org/officeDocument/2006/relationships/image" Target="../media/image10.svg"/><Relationship Id="rId4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microsoft.com/office/2007/relationships/hdphoto" Target="../media/hdphoto2.wdp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0A11F-9ADC-42EA-9ED0-D86CAB68C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b="1" dirty="0">
                <a:latin typeface="Britannic Bold" panose="020B0903060703020204" pitchFamily="34" charset="77"/>
              </a:rPr>
              <a:t>Analysez les ventes d'une librairie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76B9BF-0058-4226-D9F0-CC5B00914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6" y="4948719"/>
            <a:ext cx="2801983" cy="3693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1600" dirty="0"/>
              <a:t>Mohammed ABBAKAR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77A5CF-1526-D393-0FCB-E21390CA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95" y="4551409"/>
            <a:ext cx="1489167" cy="3139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fr-FR" altLang="fr-FR" sz="1600" b="1" dirty="0">
                <a:solidFill>
                  <a:schemeClr val="accent2">
                    <a:lumMod val="75000"/>
                  </a:schemeClr>
                </a:solidFill>
              </a:rPr>
              <a:t>Assessor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F2B692-4052-ECF2-0AD0-4E7F4D209BA3}"/>
              </a:ext>
            </a:extLst>
          </p:cNvPr>
          <p:cNvSpPr txBox="1"/>
          <p:nvPr/>
        </p:nvSpPr>
        <p:spPr>
          <a:xfrm>
            <a:off x="2042108" y="4577535"/>
            <a:ext cx="6126480" cy="313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defRPr sz="1600" b="1">
                <a:solidFill>
                  <a:schemeClr val="accent2">
                    <a:lumMod val="75000"/>
                  </a:schemeClr>
                </a:solidFill>
              </a:defRPr>
            </a:lvl1pPr>
            <a:lvl2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800"/>
            </a:lvl2pPr>
            <a:lvl3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400"/>
            </a:lvl3pPr>
            <a:lvl4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4pPr>
            <a:lvl5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5pPr>
            <a:lvl6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6pPr>
            <a:lvl7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7pPr>
            <a:lvl8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8pPr>
            <a:lvl9pPr indent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2000"/>
            </a:lvl9pPr>
          </a:lstStyle>
          <a:p>
            <a:r>
              <a:rPr lang="fr-FR" dirty="0"/>
              <a:t>Emmanuel Haback</a:t>
            </a:r>
          </a:p>
        </p:txBody>
      </p:sp>
    </p:spTree>
    <p:extLst>
      <p:ext uri="{BB962C8B-B14F-4D97-AF65-F5344CB8AC3E}">
        <p14:creationId xmlns:p14="http://schemas.microsoft.com/office/powerpoint/2010/main" val="47252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10613-AB64-3847-464D-43D00699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ADF0EA-7232-456E-BAE1-F405E73AD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7E3C7-9826-4EFF-8E7A-C4DCDCB4C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8DF2A2-AC87-48ED-B497-5112117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215743-B131-4A0F-9A2B-9265EE3F1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6BE44D6-E19C-4146-97C4-BD2D50C48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468BE0B3-C85F-D6CA-7B15-1A34B31DCF1F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1066800" y="857214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Contexte</a:t>
            </a:r>
            <a:endParaRPr lang="fr-FR" dirty="0"/>
          </a:p>
          <a:p>
            <a:r>
              <a:rPr lang="fr-FR" dirty="0"/>
              <a:t>Librairie Lapage : magasins physiques → e-commerce (depuis 2 ans)</a:t>
            </a:r>
          </a:p>
          <a:p>
            <a:r>
              <a:rPr lang="fr-FR" dirty="0"/>
              <a:t>Forte croissance des ventes en ligne</a:t>
            </a:r>
          </a:p>
          <a:p>
            <a:r>
              <a:rPr lang="fr-FR" dirty="0"/>
              <a:t>Données disponibles mais peu exploitées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Enjeu</a:t>
            </a:r>
            <a:endParaRPr lang="fr-FR" dirty="0"/>
          </a:p>
          <a:p>
            <a:r>
              <a:rPr lang="fr-FR" dirty="0"/>
              <a:t>Manque de visibilité globale sur la performance</a:t>
            </a:r>
          </a:p>
          <a:p>
            <a:r>
              <a:rPr lang="fr-FR" dirty="0"/>
              <a:t>Besoin d’aide à la décision stratégique</a:t>
            </a:r>
          </a:p>
          <a:p>
            <a:pPr indent="0">
              <a:buNone/>
            </a:pPr>
            <a:endParaRPr lang="fr-FR" dirty="0"/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F409B0C2-760F-0DB5-58C7-6827280C1C15}"/>
              </a:ext>
            </a:extLst>
          </p:cNvPr>
          <p:cNvSpPr txBox="1">
            <a:spLocks/>
          </p:cNvSpPr>
          <p:nvPr/>
        </p:nvSpPr>
        <p:spPr>
          <a:xfrm>
            <a:off x="-1869054" y="5196114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000" dirty="0">
                <a:latin typeface="Britannic Bold" panose="020B0903060703020204" pitchFamily="34" charset="77"/>
              </a:rPr>
              <a:t>Contexte du projet</a:t>
            </a:r>
            <a:br>
              <a:rPr lang="fr-FR" sz="4000" dirty="0"/>
            </a:br>
            <a:endParaRPr lang="fr-FR" sz="4000" dirty="0"/>
          </a:p>
        </p:txBody>
      </p:sp>
      <p:sp>
        <p:nvSpPr>
          <p:cNvPr id="25" name="Espace réservé de la date 24">
            <a:extLst>
              <a:ext uri="{FF2B5EF4-FFF2-40B4-BE49-F238E27FC236}">
                <a16:creationId xmlns:a16="http://schemas.microsoft.com/office/drawing/2014/main" id="{75E27E5F-5A55-11FC-9DD3-B0455282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FAD2-F5FF-7948-972E-11DB97DE329D}" type="datetime1">
              <a:rPr lang="fr-FR" smtClean="0"/>
              <a:t>16/02/2026</a:t>
            </a:fld>
            <a:endParaRPr lang="en-US"/>
          </a:p>
        </p:txBody>
      </p:sp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2845A0F5-77CE-B93D-DA72-E9F4544B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3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7FEF0-0916-02D6-760E-58155FA6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250090-C44D-85F9-3ADD-25C54EAE4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B86A4-075B-0810-1041-1CAEE231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999DB8-A2B8-011F-A068-15489B57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399" y="5584564"/>
            <a:ext cx="10058400" cy="152299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4000" dirty="0">
                <a:latin typeface="Britannic Bold" panose="020B0903060703020204" pitchFamily="34" charset="77"/>
              </a:rPr>
              <a:t>Objectifs du projet</a:t>
            </a:r>
            <a:br>
              <a:rPr lang="fr-FR" sz="4000" dirty="0">
                <a:latin typeface="Britannic Bold" panose="020B0903060703020204" pitchFamily="34" charset="77"/>
              </a:rPr>
            </a:br>
            <a:br>
              <a:rPr lang="fr-FR" sz="4000" dirty="0">
                <a:latin typeface="Britannic Bold" panose="020B0903060703020204" pitchFamily="34" charset="77"/>
              </a:rPr>
            </a:br>
            <a:endParaRPr lang="fr-FR" sz="4000" dirty="0">
              <a:latin typeface="Britannic Bold" panose="020B0903060703020204" pitchFamily="34" charset="7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7E45C1-1B26-28BE-E2AD-94F67D85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4C6957-A1D2-16FC-7FD8-F1ED9097B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A30819-7238-3988-50AA-26BD13EA3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792FFC1-3C4C-6E1A-A4C9-761CE48359E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949528" y="981797"/>
            <a:ext cx="10058400" cy="3470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700" b="1" dirty="0"/>
              <a:t>Objectif global</a:t>
            </a:r>
            <a:endParaRPr lang="fr-FR" sz="1700" dirty="0"/>
          </a:p>
          <a:p>
            <a:r>
              <a:rPr lang="fr-FR" sz="1600" dirty="0"/>
              <a:t>Donner une vision claire de la performance e-commerce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700" b="1" dirty="0"/>
              <a:t>Objectifs spécifiques</a:t>
            </a:r>
            <a:endParaRPr lang="fr-FR" sz="1700" dirty="0"/>
          </a:p>
          <a:p>
            <a:r>
              <a:rPr lang="fr-FR" sz="1600" dirty="0"/>
              <a:t>Analyser les indicateurs clés de vente</a:t>
            </a:r>
          </a:p>
          <a:p>
            <a:r>
              <a:rPr lang="fr-FR" sz="1600" dirty="0"/>
              <a:t>Identifier les produits et catégories stratégiques</a:t>
            </a:r>
          </a:p>
          <a:p>
            <a:r>
              <a:rPr lang="fr-FR" sz="1600" dirty="0"/>
              <a:t>Comprendre le comportement des clients</a:t>
            </a:r>
          </a:p>
          <a:p>
            <a:r>
              <a:rPr lang="fr-FR" sz="1600" dirty="0"/>
              <a:t>Aider la direction à la prise de décision</a:t>
            </a:r>
          </a:p>
          <a:p>
            <a:pPr indent="0">
              <a:buNone/>
            </a:pPr>
            <a:endParaRPr lang="fr-FR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34F27777-81EE-2820-26B5-44DA31452602}"/>
              </a:ext>
            </a:extLst>
          </p:cNvPr>
          <p:cNvGrpSpPr/>
          <p:nvPr/>
        </p:nvGrpSpPr>
        <p:grpSpPr>
          <a:xfrm>
            <a:off x="656399" y="981797"/>
            <a:ext cx="288000" cy="288000"/>
            <a:chOff x="698181" y="2506791"/>
            <a:chExt cx="288000" cy="288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3868D5E-EBA2-80DC-5202-8BE63DE97703}"/>
                </a:ext>
              </a:extLst>
            </p:cNvPr>
            <p:cNvSpPr/>
            <p:nvPr/>
          </p:nvSpPr>
          <p:spPr>
            <a:xfrm>
              <a:off x="698181" y="2506791"/>
              <a:ext cx="288000" cy="288000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Rectangle 11" descr="Mille">
              <a:extLst>
                <a:ext uri="{FF2B5EF4-FFF2-40B4-BE49-F238E27FC236}">
                  <a16:creationId xmlns:a16="http://schemas.microsoft.com/office/drawing/2014/main" id="{7C3334A7-4A76-8E57-472F-1D422707E268}"/>
                </a:ext>
              </a:extLst>
            </p:cNvPr>
            <p:cNvSpPr/>
            <p:nvPr/>
          </p:nvSpPr>
          <p:spPr>
            <a:xfrm>
              <a:off x="730461" y="2544128"/>
              <a:ext cx="216000" cy="216000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9A29FD61-F384-9CB9-946C-6DBA03A494E3}"/>
              </a:ext>
            </a:extLst>
          </p:cNvPr>
          <p:cNvGrpSpPr/>
          <p:nvPr/>
        </p:nvGrpSpPr>
        <p:grpSpPr>
          <a:xfrm>
            <a:off x="656399" y="2142000"/>
            <a:ext cx="288000" cy="288000"/>
            <a:chOff x="656399" y="3368361"/>
            <a:chExt cx="288000" cy="288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406E9EB-C028-1588-92C3-4206B7C2B6AB}"/>
                </a:ext>
              </a:extLst>
            </p:cNvPr>
            <p:cNvSpPr/>
            <p:nvPr/>
          </p:nvSpPr>
          <p:spPr>
            <a:xfrm>
              <a:off x="656399" y="3368361"/>
              <a:ext cx="288000" cy="288000"/>
            </a:xfrm>
            <a:prstGeom prst="ellipse">
              <a:avLst/>
            </a:prstGeom>
            <a:solidFill>
              <a:srgbClr val="967E96"/>
            </a:solidFill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17" descr="Coche">
              <a:extLst>
                <a:ext uri="{FF2B5EF4-FFF2-40B4-BE49-F238E27FC236}">
                  <a16:creationId xmlns:a16="http://schemas.microsoft.com/office/drawing/2014/main" id="{05983C24-7EA9-0A31-84F2-3E998056104C}"/>
                </a:ext>
              </a:extLst>
            </p:cNvPr>
            <p:cNvSpPr/>
            <p:nvPr/>
          </p:nvSpPr>
          <p:spPr>
            <a:xfrm>
              <a:off x="730964" y="3449413"/>
              <a:ext cx="144000" cy="144000"/>
            </a:xfrm>
            <a:prstGeom prst="rect">
              <a:avLst/>
            </a:prstGeom>
            <a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19" name="Espace réservé de la date 18">
            <a:extLst>
              <a:ext uri="{FF2B5EF4-FFF2-40B4-BE49-F238E27FC236}">
                <a16:creationId xmlns:a16="http://schemas.microsoft.com/office/drawing/2014/main" id="{52811862-18C6-4146-43C2-9B4F1E2A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1662-6E91-E64C-8592-00F6DF5C01B9}" type="datetime1">
              <a:rPr lang="fr-FR" smtClean="0"/>
              <a:t>16/02/2026</a:t>
            </a:fld>
            <a:endParaRPr lang="en-US"/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67FDD33B-1367-5957-9A61-235CD7A9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CE098-CE99-9B6B-DD7C-3B3BD0A7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74BA95-E3A3-EC1D-33C5-216FA6E2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4FB3A-B5A6-8F3B-52A7-8A03D03DA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1F5B31-FE09-6B20-6AC7-76EB7D39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758" y="5416059"/>
            <a:ext cx="10058400" cy="15229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3600" dirty="0">
                <a:latin typeface="Britannic Bold" panose="020B0903060703020204" pitchFamily="34" charset="77"/>
              </a:rPr>
              <a:t>Données &amp; Méthodologie</a:t>
            </a:r>
            <a:br>
              <a:rPr lang="fr-FR" sz="3300" dirty="0">
                <a:latin typeface="Britannic Bold" panose="020B0903060703020204" pitchFamily="34" charset="77"/>
              </a:rPr>
            </a:br>
            <a:br>
              <a:rPr lang="fr-FR" sz="3300" dirty="0">
                <a:latin typeface="Britannic Bold" panose="020B0903060703020204" pitchFamily="34" charset="77"/>
              </a:rPr>
            </a:br>
            <a:endParaRPr lang="fr-FR" sz="3300" dirty="0">
              <a:latin typeface="Britannic Bold" panose="020B0903060703020204" pitchFamily="34" charset="7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4E19BC-2F0E-878B-FB40-462F28942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F6860B-4F07-CAFE-D65D-C24B16EDF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3189A40-C8D0-84A6-A55C-033DB5342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767EEF2-44AD-C487-199D-D9F780E42EC2}"/>
              </a:ext>
            </a:extLst>
          </p:cNvPr>
          <p:cNvGrpSpPr/>
          <p:nvPr/>
        </p:nvGrpSpPr>
        <p:grpSpPr>
          <a:xfrm>
            <a:off x="1199758" y="2365105"/>
            <a:ext cx="288000" cy="288000"/>
            <a:chOff x="656399" y="3368361"/>
            <a:chExt cx="288000" cy="288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80F5494-01D5-6AF6-B0EC-9FC6F27034EE}"/>
                </a:ext>
              </a:extLst>
            </p:cNvPr>
            <p:cNvSpPr/>
            <p:nvPr/>
          </p:nvSpPr>
          <p:spPr>
            <a:xfrm>
              <a:off x="656399" y="3368361"/>
              <a:ext cx="288000" cy="288000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17" descr="Coche">
              <a:extLst>
                <a:ext uri="{FF2B5EF4-FFF2-40B4-BE49-F238E27FC236}">
                  <a16:creationId xmlns:a16="http://schemas.microsoft.com/office/drawing/2014/main" id="{FFF30B54-4665-8B9E-79BC-245839E08F93}"/>
                </a:ext>
              </a:extLst>
            </p:cNvPr>
            <p:cNvSpPr/>
            <p:nvPr/>
          </p:nvSpPr>
          <p:spPr>
            <a:xfrm>
              <a:off x="730964" y="3449413"/>
              <a:ext cx="144000" cy="144000"/>
            </a:xfrm>
            <a:prstGeom prst="rect">
              <a:avLst/>
            </a:prstGeom>
            <a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 dirty="0"/>
            </a:p>
          </p:txBody>
        </p:sp>
      </p:grp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0AFB7C7-BB21-F202-8AC2-72FD0A67785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1621646" y="5832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Données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 de données des ventes en ligne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Informations transactions, produits et clients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Période analysée : données historiques disponibles</a:t>
            </a:r>
          </a:p>
          <a:p>
            <a:pPr marL="0" indent="0">
              <a:buNone/>
            </a:pPr>
            <a:br>
              <a:rPr lang="fr-FR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Méthodologie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Nettoyage et préparation des données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Analyse descriptive des indicateurs clés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Analyses ciblées du comportement client</a:t>
            </a:r>
          </a:p>
          <a:p>
            <a:pPr indent="0">
              <a:buNone/>
            </a:pP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Analyse des corrélations demandées par l’équipe Marketing</a:t>
            </a:r>
          </a:p>
          <a:p>
            <a:pPr indent="0">
              <a:buNone/>
            </a:pPr>
            <a:endParaRPr lang="fr-FR" sz="170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F085C9A-C548-8939-8B15-1B8978C5CC6C}"/>
              </a:ext>
            </a:extLst>
          </p:cNvPr>
          <p:cNvGrpSpPr/>
          <p:nvPr/>
        </p:nvGrpSpPr>
        <p:grpSpPr>
          <a:xfrm>
            <a:off x="1199758" y="583212"/>
            <a:ext cx="288000" cy="288000"/>
            <a:chOff x="647960" y="583212"/>
            <a:chExt cx="288000" cy="2880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E12B0F81-4589-BF5A-E833-5E4986F1989B}"/>
                </a:ext>
              </a:extLst>
            </p:cNvPr>
            <p:cNvSpPr/>
            <p:nvPr/>
          </p:nvSpPr>
          <p:spPr>
            <a:xfrm>
              <a:off x="647960" y="583212"/>
              <a:ext cx="288000" cy="288000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6" name="Rectangle 5" descr="Bar chart">
              <a:extLst>
                <a:ext uri="{FF2B5EF4-FFF2-40B4-BE49-F238E27FC236}">
                  <a16:creationId xmlns:a16="http://schemas.microsoft.com/office/drawing/2014/main" id="{01A25B31-5F5D-858D-594E-2407FCE43697}"/>
                </a:ext>
              </a:extLst>
            </p:cNvPr>
            <p:cNvSpPr/>
            <p:nvPr/>
          </p:nvSpPr>
          <p:spPr>
            <a:xfrm>
              <a:off x="701960" y="637212"/>
              <a:ext cx="180000" cy="180000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0" name="Espace réservé de la date 19">
            <a:extLst>
              <a:ext uri="{FF2B5EF4-FFF2-40B4-BE49-F238E27FC236}">
                <a16:creationId xmlns:a16="http://schemas.microsoft.com/office/drawing/2014/main" id="{B4D7B450-0478-C5CD-2793-E238DF8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842CA-8C06-1E41-838C-02B45E9DE770}" type="datetime1">
              <a:rPr lang="fr-FR" smtClean="0"/>
              <a:t>16/02/2026</a:t>
            </a:fld>
            <a:endParaRPr lang="en-US"/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6258FCBD-EB0E-166D-AFF9-5F5816C6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C1A38-F56E-75CF-A004-B770DB5D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BDDFA3-0CE3-A54C-51A5-2FC10A644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DA94E4-86BD-6BA0-9D4E-507552A92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D0726F-01B7-9F3E-0735-9B972787A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B1C7B4-05A2-B38C-8B0F-1FDAB517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DAE3DD-7EDC-B9CD-2070-E14F2FD6E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51348812-5695-6AA5-8C1F-1A400F7CEBF8}"/>
              </a:ext>
            </a:extLst>
          </p:cNvPr>
          <p:cNvGrpSpPr/>
          <p:nvPr/>
        </p:nvGrpSpPr>
        <p:grpSpPr>
          <a:xfrm>
            <a:off x="899127" y="285746"/>
            <a:ext cx="2122863" cy="1260000"/>
            <a:chOff x="2494280" y="1249680"/>
            <a:chExt cx="1800000" cy="1260000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844CB06D-E7E7-E48E-A7B1-E3B79137B284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90103B27-00E7-0475-B82B-313519773315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B0DE28B-8505-6D16-9F2B-9C52969B8F91}"/>
              </a:ext>
            </a:extLst>
          </p:cNvPr>
          <p:cNvGrpSpPr/>
          <p:nvPr/>
        </p:nvGrpSpPr>
        <p:grpSpPr>
          <a:xfrm>
            <a:off x="3773189" y="285746"/>
            <a:ext cx="2124000" cy="1260000"/>
            <a:chOff x="2494280" y="1249680"/>
            <a:chExt cx="1800000" cy="1260000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0AAE66BD-0ED4-7CEA-484A-8579AA1FE3EE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4496EEB8-4AE1-6655-2859-9A4A7F3AF56C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F992C3D5-8805-D335-E322-C095DE47D1EA}"/>
              </a:ext>
            </a:extLst>
          </p:cNvPr>
          <p:cNvGrpSpPr/>
          <p:nvPr/>
        </p:nvGrpSpPr>
        <p:grpSpPr>
          <a:xfrm>
            <a:off x="6647253" y="285746"/>
            <a:ext cx="2123999" cy="1260000"/>
            <a:chOff x="2494280" y="1249680"/>
            <a:chExt cx="1800000" cy="1260000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29CA5EC9-F198-5B7A-35C5-2D7C0BA93045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FF88E6B9-48AA-C50E-A2D7-61A53247EFD7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36CE305-01B6-B311-5FDB-D7C18D5637A0}"/>
              </a:ext>
            </a:extLst>
          </p:cNvPr>
          <p:cNvGrpSpPr/>
          <p:nvPr/>
        </p:nvGrpSpPr>
        <p:grpSpPr>
          <a:xfrm>
            <a:off x="9521317" y="285746"/>
            <a:ext cx="2123999" cy="1260000"/>
            <a:chOff x="2494280" y="1249680"/>
            <a:chExt cx="1800000" cy="1260000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AD53A6E-E205-FE4E-D029-43F5FAAB69FD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8B3C46C6-1F86-2D01-B344-B09546769726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35CE2D9A-5157-3D34-0EDB-972FA4698477}"/>
              </a:ext>
            </a:extLst>
          </p:cNvPr>
          <p:cNvSpPr txBox="1"/>
          <p:nvPr/>
        </p:nvSpPr>
        <p:spPr>
          <a:xfrm>
            <a:off x="9882982" y="332248"/>
            <a:ext cx="1671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Chiffre d’affaires total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6A7EE8B-E41E-4F61-BF51-C03A0E494CBB}"/>
              </a:ext>
            </a:extLst>
          </p:cNvPr>
          <p:cNvSpPr txBox="1"/>
          <p:nvPr/>
        </p:nvSpPr>
        <p:spPr>
          <a:xfrm>
            <a:off x="1467092" y="332249"/>
            <a:ext cx="1345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clients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2D2652E-B3D1-9929-F41C-C0EA16D886F7}"/>
              </a:ext>
            </a:extLst>
          </p:cNvPr>
          <p:cNvSpPr txBox="1"/>
          <p:nvPr/>
        </p:nvSpPr>
        <p:spPr>
          <a:xfrm>
            <a:off x="4163430" y="353034"/>
            <a:ext cx="1702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transactions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12AB6D5-377C-F7B1-009C-249E0EFE2EA7}"/>
              </a:ext>
            </a:extLst>
          </p:cNvPr>
          <p:cNvSpPr txBox="1"/>
          <p:nvPr/>
        </p:nvSpPr>
        <p:spPr>
          <a:xfrm>
            <a:off x="6959335" y="353034"/>
            <a:ext cx="1923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produits vendus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3F11E5D-A6F6-DE25-7EEE-76DD24F9A65B}"/>
              </a:ext>
            </a:extLst>
          </p:cNvPr>
          <p:cNvSpPr txBox="1"/>
          <p:nvPr/>
        </p:nvSpPr>
        <p:spPr>
          <a:xfrm>
            <a:off x="432708" y="5259229"/>
            <a:ext cx="61012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Indicateurs clés analysées</a:t>
            </a:r>
          </a:p>
        </p:txBody>
      </p:sp>
      <p:graphicFrame>
        <p:nvGraphicFramePr>
          <p:cNvPr id="42" name="Tableau 41">
            <a:extLst>
              <a:ext uri="{FF2B5EF4-FFF2-40B4-BE49-F238E27FC236}">
                <a16:creationId xmlns:a16="http://schemas.microsoft.com/office/drawing/2014/main" id="{E2B45F7C-25FE-CD87-34F9-B3AD7D837AF9}"/>
              </a:ext>
            </a:extLst>
          </p:cNvPr>
          <p:cNvGraphicFramePr>
            <a:graphicFrameLocks noGrp="1"/>
          </p:cNvGraphicFramePr>
          <p:nvPr/>
        </p:nvGraphicFramePr>
        <p:xfrm>
          <a:off x="1372882" y="714102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7085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sp>
        <p:nvSpPr>
          <p:cNvPr id="44" name="ZoneTexte 43">
            <a:extLst>
              <a:ext uri="{FF2B5EF4-FFF2-40B4-BE49-F238E27FC236}">
                <a16:creationId xmlns:a16="http://schemas.microsoft.com/office/drawing/2014/main" id="{FB4A3D47-F4EF-A59A-5464-BFABA17A0C48}"/>
              </a:ext>
            </a:extLst>
          </p:cNvPr>
          <p:cNvSpPr txBox="1"/>
          <p:nvPr/>
        </p:nvSpPr>
        <p:spPr>
          <a:xfrm>
            <a:off x="1133198" y="1113754"/>
            <a:ext cx="1888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8522/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lang="fr-FR" sz="800" dirty="0">
                <a:solidFill>
                  <a:srgbClr val="FF0000"/>
                </a:solidFill>
              </a:rPr>
              <a:t>0,7% </a:t>
            </a:r>
            <a:r>
              <a:rPr lang="fr-FR" dirty="0"/>
              <a:t>année 2022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828D132E-E290-9197-113A-145784AD375E}"/>
              </a:ext>
            </a:extLst>
          </p:cNvPr>
          <p:cNvSpPr txBox="1"/>
          <p:nvPr/>
        </p:nvSpPr>
        <p:spPr>
          <a:xfrm>
            <a:off x="3923747" y="1148445"/>
            <a:ext cx="1973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174581/</a:t>
            </a:r>
            <a:r>
              <a:rPr lang="fr-FR" sz="800" dirty="0">
                <a:solidFill>
                  <a:srgbClr val="00B050"/>
                </a:solidFill>
              </a:rPr>
              <a:t>22% </a:t>
            </a:r>
            <a:r>
              <a:rPr lang="fr-FR" dirty="0"/>
              <a:t>année 2022</a:t>
            </a:r>
          </a:p>
        </p:txBody>
      </p:sp>
      <p:graphicFrame>
        <p:nvGraphicFramePr>
          <p:cNvPr id="48" name="Tableau 47">
            <a:extLst>
              <a:ext uri="{FF2B5EF4-FFF2-40B4-BE49-F238E27FC236}">
                <a16:creationId xmlns:a16="http://schemas.microsoft.com/office/drawing/2014/main" id="{4DE743E3-6E85-0CD0-B18F-8F80BF4B909B}"/>
              </a:ext>
            </a:extLst>
          </p:cNvPr>
          <p:cNvGraphicFramePr>
            <a:graphicFrameLocks noGrp="1"/>
          </p:cNvGraphicFramePr>
          <p:nvPr/>
        </p:nvGraphicFramePr>
        <p:xfrm>
          <a:off x="4278170" y="713505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27831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graphicFrame>
        <p:nvGraphicFramePr>
          <p:cNvPr id="49" name="Tableau 48">
            <a:extLst>
              <a:ext uri="{FF2B5EF4-FFF2-40B4-BE49-F238E27FC236}">
                <a16:creationId xmlns:a16="http://schemas.microsoft.com/office/drawing/2014/main" id="{F595BC9B-EAC7-F8D1-6269-FABE2ABE07B5}"/>
              </a:ext>
            </a:extLst>
          </p:cNvPr>
          <p:cNvGraphicFramePr>
            <a:graphicFrameLocks noGrp="1"/>
          </p:cNvGraphicFramePr>
          <p:nvPr/>
        </p:nvGraphicFramePr>
        <p:xfrm>
          <a:off x="7175260" y="713903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54483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graphicFrame>
        <p:nvGraphicFramePr>
          <p:cNvPr id="50" name="Tableau 49">
            <a:extLst>
              <a:ext uri="{FF2B5EF4-FFF2-40B4-BE49-F238E27FC236}">
                <a16:creationId xmlns:a16="http://schemas.microsoft.com/office/drawing/2014/main" id="{8FD7B087-3457-79A6-A4BC-365393045794}"/>
              </a:ext>
            </a:extLst>
          </p:cNvPr>
          <p:cNvGraphicFramePr>
            <a:graphicFrameLocks noGrp="1"/>
          </p:cNvGraphicFramePr>
          <p:nvPr/>
        </p:nvGraphicFramePr>
        <p:xfrm>
          <a:off x="10049036" y="713505"/>
          <a:ext cx="2115602" cy="304800"/>
        </p:xfrm>
        <a:graphic>
          <a:graphicData uri="http://schemas.openxmlformats.org/drawingml/2006/table">
            <a:tbl>
              <a:tblPr/>
              <a:tblGrid>
                <a:gridCol w="1057801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1057801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974220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sp>
        <p:nvSpPr>
          <p:cNvPr id="51" name="ZoneTexte 50">
            <a:extLst>
              <a:ext uri="{FF2B5EF4-FFF2-40B4-BE49-F238E27FC236}">
                <a16:creationId xmlns:a16="http://schemas.microsoft.com/office/drawing/2014/main" id="{73799410-7D14-0082-8984-85505A2459DB}"/>
              </a:ext>
            </a:extLst>
          </p:cNvPr>
          <p:cNvSpPr txBox="1"/>
          <p:nvPr/>
        </p:nvSpPr>
        <p:spPr>
          <a:xfrm>
            <a:off x="6739174" y="1161000"/>
            <a:ext cx="22829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346380/</a:t>
            </a:r>
            <a:r>
              <a:rPr lang="fr-FR" sz="800" dirty="0">
                <a:solidFill>
                  <a:srgbClr val="00B050"/>
                </a:solidFill>
              </a:rPr>
              <a:t>20,8%</a:t>
            </a:r>
            <a:r>
              <a:rPr lang="fr-FR" dirty="0"/>
              <a:t> année 2022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B102433-8A35-7BFE-E09B-6887F4718635}"/>
              </a:ext>
            </a:extLst>
          </p:cNvPr>
          <p:cNvSpPr txBox="1"/>
          <p:nvPr/>
        </p:nvSpPr>
        <p:spPr>
          <a:xfrm>
            <a:off x="9568137" y="1161000"/>
            <a:ext cx="21555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6108681</a:t>
            </a:r>
            <a:r>
              <a:rPr lang="fr-FR" dirty="0"/>
              <a:t>/ </a:t>
            </a:r>
            <a:r>
              <a:rPr lang="fr-FR" sz="800" dirty="0">
                <a:solidFill>
                  <a:srgbClr val="00B050"/>
                </a:solidFill>
              </a:rPr>
              <a:t>23,5% </a:t>
            </a:r>
            <a:r>
              <a:rPr lang="fr-FR" dirty="0"/>
              <a:t>année 2022</a:t>
            </a:r>
          </a:p>
        </p:txBody>
      </p:sp>
      <p:pic>
        <p:nvPicPr>
          <p:cNvPr id="66" name="Image 65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9EC7BB3-3D01-54AF-FF27-8F192A494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96" y="1976975"/>
            <a:ext cx="5231153" cy="2163795"/>
          </a:xfrm>
          <a:prstGeom prst="rect">
            <a:avLst/>
          </a:prstGeom>
        </p:spPr>
      </p:pic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D6607B75-20EA-B5A5-8D1E-55B77694D99E}"/>
              </a:ext>
            </a:extLst>
          </p:cNvPr>
          <p:cNvCxnSpPr>
            <a:cxnSpLocks/>
          </p:cNvCxnSpPr>
          <p:nvPr/>
        </p:nvCxnSpPr>
        <p:spPr>
          <a:xfrm flipH="1">
            <a:off x="6325830" y="1976975"/>
            <a:ext cx="8707" cy="2137825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Espace réservé de la date 70">
            <a:extLst>
              <a:ext uri="{FF2B5EF4-FFF2-40B4-BE49-F238E27FC236}">
                <a16:creationId xmlns:a16="http://schemas.microsoft.com/office/drawing/2014/main" id="{37326CB8-7A3A-3EBE-F7C0-FEA7806A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7666-CCA3-F046-BFD1-C38E76DAD04F}" type="datetime1">
              <a:rPr lang="fr-FR" smtClean="0"/>
              <a:t>16/02/2026</a:t>
            </a:fld>
            <a:endParaRPr lang="en-US"/>
          </a:p>
        </p:txBody>
      </p:sp>
      <p:sp>
        <p:nvSpPr>
          <p:cNvPr id="72" name="Espace réservé du numéro de diapositive 71">
            <a:extLst>
              <a:ext uri="{FF2B5EF4-FFF2-40B4-BE49-F238E27FC236}">
                <a16:creationId xmlns:a16="http://schemas.microsoft.com/office/drawing/2014/main" id="{634D7F34-5AEF-B09D-A9D7-D9C1DE8C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BEC13737-E705-529C-D207-C64F3A0B4237}"/>
              </a:ext>
            </a:extLst>
          </p:cNvPr>
          <p:cNvSpPr txBox="1"/>
          <p:nvPr/>
        </p:nvSpPr>
        <p:spPr>
          <a:xfrm>
            <a:off x="1999338" y="751863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-16,8%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E46F3F13-0431-B903-12BE-3BDD99A057B7}"/>
              </a:ext>
            </a:extLst>
          </p:cNvPr>
          <p:cNvSpPr txBox="1"/>
          <p:nvPr/>
        </p:nvSpPr>
        <p:spPr>
          <a:xfrm>
            <a:off x="4938361" y="758270"/>
            <a:ext cx="479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-85%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355D63A4-FAAC-FB25-D109-FEA089FC907A}"/>
              </a:ext>
            </a:extLst>
          </p:cNvPr>
          <p:cNvSpPr txBox="1"/>
          <p:nvPr/>
        </p:nvSpPr>
        <p:spPr>
          <a:xfrm>
            <a:off x="7874912" y="75320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-84,2%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7FDE3CD8-A0C8-E5A6-7F48-FC8E5303F607}"/>
              </a:ext>
            </a:extLst>
          </p:cNvPr>
          <p:cNvSpPr txBox="1"/>
          <p:nvPr/>
        </p:nvSpPr>
        <p:spPr>
          <a:xfrm>
            <a:off x="10943664" y="758270"/>
            <a:ext cx="479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-84%</a:t>
            </a:r>
          </a:p>
        </p:txBody>
      </p:sp>
      <p:pic>
        <p:nvPicPr>
          <p:cNvPr id="3" name="Image 2" descr="Une image contenant ligne, Tracé, texte, Police&#10;&#10;Le contenu généré par l’IA peut être incorrect.">
            <a:extLst>
              <a:ext uri="{FF2B5EF4-FFF2-40B4-BE49-F238E27FC236}">
                <a16:creationId xmlns:a16="http://schemas.microsoft.com/office/drawing/2014/main" id="{5FB0E081-A9EE-BE40-B4FA-9DFB6A777A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08" y="2110254"/>
            <a:ext cx="5537571" cy="1515255"/>
          </a:xfrm>
          <a:prstGeom prst="rect">
            <a:avLst/>
          </a:prstGeom>
        </p:spPr>
      </p:pic>
      <p:pic>
        <p:nvPicPr>
          <p:cNvPr id="5" name="Image 4" descr="Une image contenant texte, reç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4440665-B7AC-CEA7-B740-CC71168629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63" y="1716972"/>
            <a:ext cx="11326584" cy="28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-0.00339 0.7939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3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9F38D-2DEA-63CD-51C4-C031CBAE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CACCD8-88F1-F232-BD6E-B4992643C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F61DE6-F832-270A-53B9-9E324BEFB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FA37B8-225F-A596-A0C6-977E0DA0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B5CBE2-774F-8376-C6FE-7C481EA82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933815B-010C-8F12-9B76-3D97B6B50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DA3BC87E-26DA-BB80-2CE4-AA8AE5F91204}"/>
              </a:ext>
            </a:extLst>
          </p:cNvPr>
          <p:cNvGrpSpPr/>
          <p:nvPr/>
        </p:nvGrpSpPr>
        <p:grpSpPr>
          <a:xfrm>
            <a:off x="899127" y="285746"/>
            <a:ext cx="2122863" cy="1260000"/>
            <a:chOff x="2494280" y="1249680"/>
            <a:chExt cx="1800000" cy="1260000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6308963A-66A8-00B9-75FF-62BF2DBCFFDF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CB26C548-55C5-045D-E004-93CD7738C051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2502AD4-1B44-AFB6-BC0A-B5D1AF1C4AAB}"/>
              </a:ext>
            </a:extLst>
          </p:cNvPr>
          <p:cNvGrpSpPr/>
          <p:nvPr/>
        </p:nvGrpSpPr>
        <p:grpSpPr>
          <a:xfrm>
            <a:off x="3773189" y="285746"/>
            <a:ext cx="2124000" cy="1260000"/>
            <a:chOff x="2494280" y="1249680"/>
            <a:chExt cx="1800000" cy="1260000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B00FA5AD-B214-B207-37B1-B7A1BBE9109C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79961CFB-8E79-54A2-28F2-411E32DD1ADE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0545D4A3-F259-0E90-E489-7D50D9A94CEA}"/>
              </a:ext>
            </a:extLst>
          </p:cNvPr>
          <p:cNvGrpSpPr/>
          <p:nvPr/>
        </p:nvGrpSpPr>
        <p:grpSpPr>
          <a:xfrm>
            <a:off x="6647253" y="285746"/>
            <a:ext cx="2123999" cy="1260000"/>
            <a:chOff x="2494280" y="1249680"/>
            <a:chExt cx="1800000" cy="1260000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A55890AC-76CE-79DE-1D09-42EEA6007FD8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A4990D45-8C07-4469-AF08-7BB768CD3B9F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EB6C844-7FF4-E5B1-AC83-F4EC14742F4F}"/>
              </a:ext>
            </a:extLst>
          </p:cNvPr>
          <p:cNvGrpSpPr/>
          <p:nvPr/>
        </p:nvGrpSpPr>
        <p:grpSpPr>
          <a:xfrm>
            <a:off x="9521317" y="285746"/>
            <a:ext cx="2123999" cy="1260000"/>
            <a:chOff x="2494280" y="1249680"/>
            <a:chExt cx="1800000" cy="1260000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69FEEDDA-C71B-1EDC-3F75-539334A961B7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B88BDC3A-2A2C-12BC-88E3-532C3991CFA1}"/>
                </a:ext>
              </a:extLst>
            </p:cNvPr>
            <p:cNvSpPr/>
            <p:nvPr/>
          </p:nvSpPr>
          <p:spPr>
            <a:xfrm>
              <a:off x="2494280" y="1249680"/>
              <a:ext cx="1800000" cy="1260000"/>
            </a:xfrm>
            <a:prstGeom prst="roundRect">
              <a:avLst>
                <a:gd name="adj" fmla="val 8603"/>
              </a:avLst>
            </a:prstGeom>
            <a:gradFill>
              <a:gsLst>
                <a:gs pos="0">
                  <a:srgbClr val="EDEEF3"/>
                </a:gs>
                <a:gs pos="98000">
                  <a:schemeClr val="bg1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3EB82334-361C-9578-996D-87A01F01FB32}"/>
              </a:ext>
            </a:extLst>
          </p:cNvPr>
          <p:cNvSpPr txBox="1"/>
          <p:nvPr/>
        </p:nvSpPr>
        <p:spPr>
          <a:xfrm>
            <a:off x="9882982" y="332248"/>
            <a:ext cx="16711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Chiffre d’affaires total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FCCCB3A-C6C7-88C1-4DC8-1E008F842A5E}"/>
              </a:ext>
            </a:extLst>
          </p:cNvPr>
          <p:cNvSpPr txBox="1"/>
          <p:nvPr/>
        </p:nvSpPr>
        <p:spPr>
          <a:xfrm>
            <a:off x="1467092" y="332249"/>
            <a:ext cx="1345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clients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7B2D89E-0ACC-A8DA-DDE5-312CDDC33FF9}"/>
              </a:ext>
            </a:extLst>
          </p:cNvPr>
          <p:cNvSpPr txBox="1"/>
          <p:nvPr/>
        </p:nvSpPr>
        <p:spPr>
          <a:xfrm>
            <a:off x="4163430" y="353034"/>
            <a:ext cx="1702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transactions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320A4E8-7B09-B4CD-2A71-0F272B7AE08F}"/>
              </a:ext>
            </a:extLst>
          </p:cNvPr>
          <p:cNvSpPr txBox="1"/>
          <p:nvPr/>
        </p:nvSpPr>
        <p:spPr>
          <a:xfrm>
            <a:off x="6959335" y="353034"/>
            <a:ext cx="1923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Nb de produits vendus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133F8A9-37E5-ACB7-4BDA-C0CB517E2007}"/>
              </a:ext>
            </a:extLst>
          </p:cNvPr>
          <p:cNvSpPr txBox="1"/>
          <p:nvPr/>
        </p:nvSpPr>
        <p:spPr>
          <a:xfrm>
            <a:off x="614652" y="5404610"/>
            <a:ext cx="61012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Indicateurs clés analysées</a:t>
            </a:r>
          </a:p>
        </p:txBody>
      </p:sp>
      <p:graphicFrame>
        <p:nvGraphicFramePr>
          <p:cNvPr id="42" name="Tableau 41">
            <a:extLst>
              <a:ext uri="{FF2B5EF4-FFF2-40B4-BE49-F238E27FC236}">
                <a16:creationId xmlns:a16="http://schemas.microsoft.com/office/drawing/2014/main" id="{62BEF986-7C0B-467B-BD28-2128D4594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27734"/>
              </p:ext>
            </p:extLst>
          </p:nvPr>
        </p:nvGraphicFramePr>
        <p:xfrm>
          <a:off x="1372882" y="714102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7085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sp>
        <p:nvSpPr>
          <p:cNvPr id="44" name="ZoneTexte 43">
            <a:extLst>
              <a:ext uri="{FF2B5EF4-FFF2-40B4-BE49-F238E27FC236}">
                <a16:creationId xmlns:a16="http://schemas.microsoft.com/office/drawing/2014/main" id="{0D0DB533-2AEF-DEEF-0D4E-4D378E097C52}"/>
              </a:ext>
            </a:extLst>
          </p:cNvPr>
          <p:cNvSpPr txBox="1"/>
          <p:nvPr/>
        </p:nvSpPr>
        <p:spPr>
          <a:xfrm>
            <a:off x="1133198" y="1113754"/>
            <a:ext cx="1888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8522/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lang="fr-FR" sz="800" dirty="0">
                <a:solidFill>
                  <a:srgbClr val="FF0000"/>
                </a:solidFill>
              </a:rPr>
              <a:t>0,7% </a:t>
            </a:r>
            <a:r>
              <a:rPr lang="fr-FR" dirty="0"/>
              <a:t>année 2022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4F61781-C7F1-E6E6-B1D1-993E43ACB012}"/>
              </a:ext>
            </a:extLst>
          </p:cNvPr>
          <p:cNvSpPr txBox="1"/>
          <p:nvPr/>
        </p:nvSpPr>
        <p:spPr>
          <a:xfrm>
            <a:off x="3923747" y="1148445"/>
            <a:ext cx="1973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174581/</a:t>
            </a:r>
            <a:r>
              <a:rPr lang="fr-FR" sz="800" dirty="0">
                <a:solidFill>
                  <a:srgbClr val="00B050"/>
                </a:solidFill>
              </a:rPr>
              <a:t>22% </a:t>
            </a:r>
            <a:r>
              <a:rPr lang="fr-FR" dirty="0"/>
              <a:t>année 2022</a:t>
            </a:r>
          </a:p>
        </p:txBody>
      </p:sp>
      <p:graphicFrame>
        <p:nvGraphicFramePr>
          <p:cNvPr id="48" name="Tableau 47">
            <a:extLst>
              <a:ext uri="{FF2B5EF4-FFF2-40B4-BE49-F238E27FC236}">
                <a16:creationId xmlns:a16="http://schemas.microsoft.com/office/drawing/2014/main" id="{1757AA40-AF35-B128-EFA2-38A103C28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007208"/>
              </p:ext>
            </p:extLst>
          </p:nvPr>
        </p:nvGraphicFramePr>
        <p:xfrm>
          <a:off x="4278170" y="713505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27831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graphicFrame>
        <p:nvGraphicFramePr>
          <p:cNvPr id="49" name="Tableau 48">
            <a:extLst>
              <a:ext uri="{FF2B5EF4-FFF2-40B4-BE49-F238E27FC236}">
                <a16:creationId xmlns:a16="http://schemas.microsoft.com/office/drawing/2014/main" id="{C8C0331C-1774-9DD8-EDE2-2B4050CB5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613176"/>
              </p:ext>
            </p:extLst>
          </p:nvPr>
        </p:nvGraphicFramePr>
        <p:xfrm>
          <a:off x="7175260" y="713903"/>
          <a:ext cx="1800000" cy="3048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/>
                        <a:t>54483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graphicFrame>
        <p:nvGraphicFramePr>
          <p:cNvPr id="50" name="Tableau 49">
            <a:extLst>
              <a:ext uri="{FF2B5EF4-FFF2-40B4-BE49-F238E27FC236}">
                <a16:creationId xmlns:a16="http://schemas.microsoft.com/office/drawing/2014/main" id="{75205C68-F9E8-EAB8-08D4-F90F64A02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411258"/>
              </p:ext>
            </p:extLst>
          </p:nvPr>
        </p:nvGraphicFramePr>
        <p:xfrm>
          <a:off x="10049036" y="713505"/>
          <a:ext cx="2115602" cy="304800"/>
        </p:xfrm>
        <a:graphic>
          <a:graphicData uri="http://schemas.openxmlformats.org/drawingml/2006/table">
            <a:tbl>
              <a:tblPr/>
              <a:tblGrid>
                <a:gridCol w="1057801">
                  <a:extLst>
                    <a:ext uri="{9D8B030D-6E8A-4147-A177-3AD203B41FA5}">
                      <a16:colId xmlns:a16="http://schemas.microsoft.com/office/drawing/2014/main" val="1869200678"/>
                    </a:ext>
                  </a:extLst>
                </a:gridCol>
                <a:gridCol w="1057801">
                  <a:extLst>
                    <a:ext uri="{9D8B030D-6E8A-4147-A177-3AD203B41FA5}">
                      <a16:colId xmlns:a16="http://schemas.microsoft.com/office/drawing/2014/main" val="4083757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974220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9149"/>
                  </a:ext>
                </a:extLst>
              </a:tr>
            </a:tbl>
          </a:graphicData>
        </a:graphic>
      </p:graphicFrame>
      <p:sp>
        <p:nvSpPr>
          <p:cNvPr id="51" name="ZoneTexte 50">
            <a:extLst>
              <a:ext uri="{FF2B5EF4-FFF2-40B4-BE49-F238E27FC236}">
                <a16:creationId xmlns:a16="http://schemas.microsoft.com/office/drawing/2014/main" id="{5988BC66-0849-6C85-AE90-8D3907625570}"/>
              </a:ext>
            </a:extLst>
          </p:cNvPr>
          <p:cNvSpPr txBox="1"/>
          <p:nvPr/>
        </p:nvSpPr>
        <p:spPr>
          <a:xfrm>
            <a:off x="6739174" y="1161000"/>
            <a:ext cx="22829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346380/</a:t>
            </a:r>
            <a:r>
              <a:rPr lang="fr-FR" sz="800" dirty="0">
                <a:solidFill>
                  <a:srgbClr val="00B050"/>
                </a:solidFill>
              </a:rPr>
              <a:t>20,8%</a:t>
            </a:r>
            <a:r>
              <a:rPr lang="fr-FR" dirty="0"/>
              <a:t> année 2022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27A135D5-19C3-047B-B68C-8EC903979CB4}"/>
              </a:ext>
            </a:extLst>
          </p:cNvPr>
          <p:cNvSpPr txBox="1"/>
          <p:nvPr/>
        </p:nvSpPr>
        <p:spPr>
          <a:xfrm>
            <a:off x="9568137" y="1161000"/>
            <a:ext cx="21555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fr-FR" dirty="0"/>
              <a:t>Vs </a:t>
            </a:r>
            <a:r>
              <a:rPr lang="fr-FR" dirty="0">
                <a:solidFill>
                  <a:srgbClr val="967E96"/>
                </a:solidFill>
              </a:rPr>
              <a:t>6108681</a:t>
            </a:r>
            <a:r>
              <a:rPr lang="fr-FR" dirty="0"/>
              <a:t>/ </a:t>
            </a:r>
            <a:r>
              <a:rPr lang="fr-FR" sz="800" dirty="0">
                <a:solidFill>
                  <a:srgbClr val="00B050"/>
                </a:solidFill>
              </a:rPr>
              <a:t>23,5% </a:t>
            </a:r>
            <a:r>
              <a:rPr lang="fr-FR" dirty="0"/>
              <a:t>année 2022</a:t>
            </a:r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046E817E-335E-800F-C08E-96BBD59AA342}"/>
              </a:ext>
            </a:extLst>
          </p:cNvPr>
          <p:cNvCxnSpPr>
            <a:cxnSpLocks/>
          </p:cNvCxnSpPr>
          <p:nvPr/>
        </p:nvCxnSpPr>
        <p:spPr>
          <a:xfrm flipH="1">
            <a:off x="6087293" y="1976975"/>
            <a:ext cx="8707" cy="2137825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Espace réservé de la date 70">
            <a:extLst>
              <a:ext uri="{FF2B5EF4-FFF2-40B4-BE49-F238E27FC236}">
                <a16:creationId xmlns:a16="http://schemas.microsoft.com/office/drawing/2014/main" id="{642C1FDD-4BA7-D922-7CFB-CE596151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7666-CCA3-F046-BFD1-C38E76DAD04F}" type="datetime1">
              <a:rPr lang="fr-FR" smtClean="0"/>
              <a:t>16/02/2026</a:t>
            </a:fld>
            <a:endParaRPr lang="en-US"/>
          </a:p>
        </p:txBody>
      </p:sp>
      <p:sp>
        <p:nvSpPr>
          <p:cNvPr id="72" name="Espace réservé du numéro de diapositive 71">
            <a:extLst>
              <a:ext uri="{FF2B5EF4-FFF2-40B4-BE49-F238E27FC236}">
                <a16:creationId xmlns:a16="http://schemas.microsoft.com/office/drawing/2014/main" id="{18D40D97-A0B1-EF59-2725-EEB1E76A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29CB789F-3114-52C3-627F-3C0014E297D2}"/>
              </a:ext>
            </a:extLst>
          </p:cNvPr>
          <p:cNvSpPr txBox="1"/>
          <p:nvPr/>
        </p:nvSpPr>
        <p:spPr>
          <a:xfrm>
            <a:off x="1999338" y="751863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-16,8%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1D5C38F5-9C85-65CB-46B5-626698780E42}"/>
              </a:ext>
            </a:extLst>
          </p:cNvPr>
          <p:cNvSpPr txBox="1"/>
          <p:nvPr/>
        </p:nvSpPr>
        <p:spPr>
          <a:xfrm>
            <a:off x="4938361" y="758270"/>
            <a:ext cx="479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-85%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DDDC6373-90F0-DA96-2FF6-74DF1A4BA71C}"/>
              </a:ext>
            </a:extLst>
          </p:cNvPr>
          <p:cNvSpPr txBox="1"/>
          <p:nvPr/>
        </p:nvSpPr>
        <p:spPr>
          <a:xfrm>
            <a:off x="7874912" y="75320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-84,2%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D5B22B36-FF98-4AB3-7178-98874BF889B1}"/>
              </a:ext>
            </a:extLst>
          </p:cNvPr>
          <p:cNvSpPr txBox="1"/>
          <p:nvPr/>
        </p:nvSpPr>
        <p:spPr>
          <a:xfrm>
            <a:off x="10943664" y="758270"/>
            <a:ext cx="479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FF0000"/>
                </a:solidFill>
              </a:rPr>
              <a:t>-84%</a:t>
            </a:r>
          </a:p>
        </p:txBody>
      </p:sp>
      <p:pic>
        <p:nvPicPr>
          <p:cNvPr id="78" name="Image 77" descr="Une image contenant ligne, Tracé, reçu, texte&#10;&#10;Le contenu généré par l’IA peut être incorrect.">
            <a:extLst>
              <a:ext uri="{FF2B5EF4-FFF2-40B4-BE49-F238E27FC236}">
                <a16:creationId xmlns:a16="http://schemas.microsoft.com/office/drawing/2014/main" id="{B5327F9D-E9AE-B8EA-DC0C-CDEA5C8657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542" y="1769125"/>
            <a:ext cx="5320383" cy="2157306"/>
          </a:xfrm>
          <a:prstGeom prst="rect">
            <a:avLst/>
          </a:prstGeom>
        </p:spPr>
      </p:pic>
      <p:pic>
        <p:nvPicPr>
          <p:cNvPr id="80" name="Image 79" descr="Une image contenant diagramme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05ECBBA0-10BD-1D81-551D-5136B9A9D4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08" y="1769125"/>
            <a:ext cx="5319210" cy="245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2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989C7-CA7B-87D2-58E4-4AB621CCD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4CD134-CA21-6B0E-B583-E11BDA09F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F117E-34D9-41A6-A1B3-91E6E7057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1884BF-E204-BB44-115C-217586C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B2ED192-35E3-1A97-1D55-9DDEDE876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ADD572-D129-5587-9EF7-2DB1D112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1B3CCAC-3365-F44F-FB11-3C37FAE40AD3}"/>
              </a:ext>
            </a:extLst>
          </p:cNvPr>
          <p:cNvSpPr txBox="1"/>
          <p:nvPr/>
        </p:nvSpPr>
        <p:spPr>
          <a:xfrm>
            <a:off x="1199758" y="5443212"/>
            <a:ext cx="61003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Analyse des ventes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BBBD0F06-3D4B-A25B-44FB-51D8014179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758" y="1161955"/>
            <a:ext cx="4441190" cy="2633928"/>
          </a:xfrm>
          <a:prstGeom prst="rect">
            <a:avLst/>
          </a:prstGeom>
        </p:spPr>
      </p:pic>
      <p:pic>
        <p:nvPicPr>
          <p:cNvPr id="24" name="Image 23" descr="Une image contenant Rectangl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99EF133-FD3E-2499-0717-6C76AC83FC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76" y="1750422"/>
            <a:ext cx="5464275" cy="1539076"/>
          </a:xfrm>
          <a:prstGeom prst="rect">
            <a:avLst/>
          </a:prstGeom>
        </p:spPr>
      </p:pic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D1ACC86-22D8-488C-5928-D33454FCD616}"/>
              </a:ext>
            </a:extLst>
          </p:cNvPr>
          <p:cNvCxnSpPr>
            <a:cxnSpLocks/>
          </p:cNvCxnSpPr>
          <p:nvPr/>
        </p:nvCxnSpPr>
        <p:spPr>
          <a:xfrm>
            <a:off x="5930537" y="836023"/>
            <a:ext cx="0" cy="327877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Espace réservé de la date 27">
            <a:extLst>
              <a:ext uri="{FF2B5EF4-FFF2-40B4-BE49-F238E27FC236}">
                <a16:creationId xmlns:a16="http://schemas.microsoft.com/office/drawing/2014/main" id="{523CE206-83C6-37CB-5029-0021E404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D928A-C4B6-CB4C-9D9D-7B683B8DD18D}" type="datetime1">
              <a:rPr lang="fr-FR" smtClean="0"/>
              <a:t>16/02/2026</a:t>
            </a:fld>
            <a:endParaRPr lang="en-US"/>
          </a:p>
        </p:txBody>
      </p: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F97FDAAF-9CEE-926E-21FB-B1164D66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4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4AAA3-3046-D4A7-E8D4-34BD6813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27DA0D-5776-B80E-98B1-18934772F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7A49A-F115-5069-D80E-A14D92DE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52E75B-2A91-A799-B488-CBC7C5DE0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0B9B13-14B7-D00C-0A56-DEDA4A75F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3CF557-EA2B-E1F2-2140-DD1312DCF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9DCDB2EE-1381-DAE9-EB65-EC007A3D7D99}"/>
              </a:ext>
            </a:extLst>
          </p:cNvPr>
          <p:cNvSpPr txBox="1"/>
          <p:nvPr/>
        </p:nvSpPr>
        <p:spPr>
          <a:xfrm>
            <a:off x="298421" y="5443212"/>
            <a:ext cx="61003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Analyse des ventes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2CF814A-747A-1D23-F049-095C895609C3}"/>
              </a:ext>
            </a:extLst>
          </p:cNvPr>
          <p:cNvCxnSpPr>
            <a:cxnSpLocks/>
          </p:cNvCxnSpPr>
          <p:nvPr/>
        </p:nvCxnSpPr>
        <p:spPr>
          <a:xfrm>
            <a:off x="6087293" y="836023"/>
            <a:ext cx="0" cy="327877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7FEA7E9-6820-1B20-FA9B-4A1D227E6C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13" y="1664088"/>
            <a:ext cx="5597324" cy="1693779"/>
          </a:xfrm>
          <a:prstGeom prst="rect">
            <a:avLst/>
          </a:prstGeom>
        </p:spPr>
      </p:pic>
      <p:pic>
        <p:nvPicPr>
          <p:cNvPr id="6" name="Image 5" descr="Une image contenant texte, Police, Tracé, ligne&#10;&#10;Le contenu généré par l’IA peut être incorrect.">
            <a:extLst>
              <a:ext uri="{FF2B5EF4-FFF2-40B4-BE49-F238E27FC236}">
                <a16:creationId xmlns:a16="http://schemas.microsoft.com/office/drawing/2014/main" id="{EBAA086D-B22E-385B-40B0-EA6C91AF7D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653" y="1592955"/>
            <a:ext cx="5531897" cy="1764912"/>
          </a:xfrm>
          <a:prstGeom prst="rect">
            <a:avLst/>
          </a:prstGeom>
        </p:spPr>
      </p:pic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809973C-2B43-DE24-6BD0-A7E6E434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7F61-55EC-E343-8E76-389DD74DC4A3}" type="datetime1">
              <a:rPr lang="fr-FR" smtClean="0"/>
              <a:t>16/02/2026</a:t>
            </a:fld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C8978D3-0597-CD3C-5EF2-AD2E0147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C455D-4917-0DDB-7EF7-0E8B5B41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B74FE7-7B33-9168-7D89-9E876EA6A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AD30D-665C-F4D6-5600-F7A5F7781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D9CEAA-660E-8AB6-C7FD-7D179FB89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26C6D14-D4B1-8FDD-CCC7-9B590AE65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E342CD-33E1-72F7-A626-71CF0EB5F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0BBF9C3-E06E-24BB-C671-A45D1238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7E68-7EBB-264F-8934-D4F9369033F4}" type="datetime1">
              <a:rPr lang="fr-FR" smtClean="0"/>
              <a:t>16/02/2026</a:t>
            </a:fld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B52780C-F003-DA15-11BC-8B6263ED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4165BB-A07C-FFA3-1F9B-6D487C8A08AA}"/>
              </a:ext>
            </a:extLst>
          </p:cNvPr>
          <p:cNvSpPr txBox="1"/>
          <p:nvPr/>
        </p:nvSpPr>
        <p:spPr>
          <a:xfrm>
            <a:off x="752206" y="5365817"/>
            <a:ext cx="7908468" cy="1089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Courbe de Lorenz selon les produits</a:t>
            </a:r>
          </a:p>
        </p:txBody>
      </p:sp>
      <p:pic>
        <p:nvPicPr>
          <p:cNvPr id="12" name="Image 11" descr="Une image contenant ligne, texte, Tracé, diagramme&#10;&#10;Le contenu généré par l’IA peut être incorrect.">
            <a:extLst>
              <a:ext uri="{FF2B5EF4-FFF2-40B4-BE49-F238E27FC236}">
                <a16:creationId xmlns:a16="http://schemas.microsoft.com/office/drawing/2014/main" id="{0661EC18-1026-D66D-A044-C9062C4AE2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383" y="405266"/>
            <a:ext cx="5519291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7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2A8B8-5EAB-57F8-C73F-9F8BD8DA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F9081E-99A3-C1AA-737B-C18ED7D49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08D00-F61F-802F-7BF4-C8D8BB1B0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8B90EE-1CAA-0240-B661-27DA1D1B8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19A728F-CA88-4107-C5A9-10C830B6C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EC6F297-C3F0-2A4C-B8A9-34B8502CA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92CCA89-3224-1C39-A77F-AF619D815237}"/>
              </a:ext>
            </a:extLst>
          </p:cNvPr>
          <p:cNvCxnSpPr>
            <a:cxnSpLocks/>
          </p:cNvCxnSpPr>
          <p:nvPr/>
        </p:nvCxnSpPr>
        <p:spPr>
          <a:xfrm>
            <a:off x="6087293" y="836023"/>
            <a:ext cx="0" cy="327877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7215E9FC-6BD3-91CA-B4EB-A7D732297F5B}"/>
              </a:ext>
            </a:extLst>
          </p:cNvPr>
          <p:cNvSpPr txBox="1"/>
          <p:nvPr/>
        </p:nvSpPr>
        <p:spPr>
          <a:xfrm>
            <a:off x="333213" y="5483422"/>
            <a:ext cx="61003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Analyse des corrélations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8FD2A8-288A-F86C-A27C-483C92BEE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7E68-7EBB-264F-8934-D4F9369033F4}" type="datetime1">
              <a:rPr lang="fr-FR" smtClean="0"/>
              <a:t>16/02/2026</a:t>
            </a:fld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D6F455B-9C4F-97AA-B46A-8A185F6C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/>
          </a:p>
        </p:txBody>
      </p:sp>
      <p:pic>
        <p:nvPicPr>
          <p:cNvPr id="5" name="Image 4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84044151-BE80-CFE0-4E0A-0412F84EFE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2" y="836023"/>
            <a:ext cx="5200649" cy="352055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DA06E44-2CEA-501B-695A-A842ACD74455}"/>
              </a:ext>
            </a:extLst>
          </p:cNvPr>
          <p:cNvSpPr txBox="1"/>
          <p:nvPr/>
        </p:nvSpPr>
        <p:spPr>
          <a:xfrm>
            <a:off x="2080932" y="358981"/>
            <a:ext cx="2289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(Sex ↔ Catégorie)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71E7A79-C6EF-D47F-ACEB-5426239F3EEC}"/>
              </a:ext>
            </a:extLst>
          </p:cNvPr>
          <p:cNvSpPr txBox="1"/>
          <p:nvPr/>
        </p:nvSpPr>
        <p:spPr>
          <a:xfrm>
            <a:off x="7821708" y="358981"/>
            <a:ext cx="285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(Âge ↔ Montant total)</a:t>
            </a:r>
          </a:p>
        </p:txBody>
      </p:sp>
      <p:pic>
        <p:nvPicPr>
          <p:cNvPr id="19" name="Image 18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C93D21AE-0226-B67C-C274-3C661EE640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20" y="917668"/>
            <a:ext cx="4255679" cy="316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2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89A88-57D7-3C1C-0CAB-BF02C479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E8A7D-F4A0-0943-D58B-9D9406D88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F3166F-7958-CB79-1BBF-75E63F41C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DC2CDF-59ED-D3D5-3F99-0D92230E7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84C5C99-8A36-EBF4-E39D-D02C40BCA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9267937-261A-E002-CC49-8AE637FD5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90D1C3E4-1FB0-C563-3853-2A385774F7E1}"/>
              </a:ext>
            </a:extLst>
          </p:cNvPr>
          <p:cNvCxnSpPr>
            <a:cxnSpLocks/>
          </p:cNvCxnSpPr>
          <p:nvPr/>
        </p:nvCxnSpPr>
        <p:spPr>
          <a:xfrm>
            <a:off x="6087293" y="836023"/>
            <a:ext cx="0" cy="327877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575D702C-6686-CC34-F877-54188446261C}"/>
              </a:ext>
            </a:extLst>
          </p:cNvPr>
          <p:cNvSpPr txBox="1"/>
          <p:nvPr/>
        </p:nvSpPr>
        <p:spPr>
          <a:xfrm>
            <a:off x="333213" y="5483422"/>
            <a:ext cx="61003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Analyse des corrélations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AB45CC7-B84E-222A-CA12-92E8D91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7E68-7EBB-264F-8934-D4F9369033F4}" type="datetime1">
              <a:rPr lang="fr-FR" smtClean="0"/>
              <a:t>16/02/2026</a:t>
            </a:fld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A4A3A20-D2DE-0CF1-02C2-682C5F7B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24D532-A107-B2BA-9E52-57B8958B35C5}"/>
              </a:ext>
            </a:extLst>
          </p:cNvPr>
          <p:cNvSpPr txBox="1"/>
          <p:nvPr/>
        </p:nvSpPr>
        <p:spPr>
          <a:xfrm>
            <a:off x="1953665" y="244678"/>
            <a:ext cx="228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(Âge ↔ Fréquence)</a:t>
            </a:r>
          </a:p>
        </p:txBody>
      </p:sp>
      <p:pic>
        <p:nvPicPr>
          <p:cNvPr id="8" name="Image 7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04D27995-57E5-6EDB-B33A-DA73675ECE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85" y="803365"/>
            <a:ext cx="4791718" cy="344193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BBB2D6F6-FB26-62FE-F039-66EFA9F78338}"/>
              </a:ext>
            </a:extLst>
          </p:cNvPr>
          <p:cNvSpPr txBox="1"/>
          <p:nvPr/>
        </p:nvSpPr>
        <p:spPr>
          <a:xfrm>
            <a:off x="7964424" y="244678"/>
            <a:ext cx="2796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(Âge ↔ Panier moyen)</a:t>
            </a:r>
          </a:p>
        </p:txBody>
      </p:sp>
      <p:pic>
        <p:nvPicPr>
          <p:cNvPr id="21" name="Image 20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67C39BD-3952-324F-3F46-77C073DBA6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799" y="917070"/>
            <a:ext cx="4175004" cy="306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1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9D6DF-84BB-1C0A-9A72-34F48B3A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A718288-C4EF-6F36-0CF3-AC4610BD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0AD6A1-2379-799E-3C91-054C6FA09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79C983-EBC6-3015-CEC0-BE699CA07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F4D01D-C944-FF6C-46E3-FBC79105C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FC6370-F048-C675-FDF1-59CB18A28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CF7B01E4-5579-44B1-3DE7-04FB249D6336}"/>
              </a:ext>
            </a:extLst>
          </p:cNvPr>
          <p:cNvSpPr txBox="1"/>
          <p:nvPr/>
        </p:nvSpPr>
        <p:spPr>
          <a:xfrm>
            <a:off x="333213" y="5483422"/>
            <a:ext cx="6100354" cy="590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dirty="0"/>
              <a:t>Analyse des corrélations</a:t>
            </a:r>
          </a:p>
        </p:txBody>
      </p:sp>
      <p:sp>
        <p:nvSpPr>
          <p:cNvPr id="16" name="Espace réservé de la date 15">
            <a:extLst>
              <a:ext uri="{FF2B5EF4-FFF2-40B4-BE49-F238E27FC236}">
                <a16:creationId xmlns:a16="http://schemas.microsoft.com/office/drawing/2014/main" id="{8D98891A-0C4F-915D-4344-B733D878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3A5B-895C-F44B-9622-4058DA32D11A}" type="datetime1">
              <a:rPr lang="fr-FR" smtClean="0"/>
              <a:t>16/02/2026</a:t>
            </a:fld>
            <a:endParaRPr lang="en-US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CD38FB2D-601D-685A-4951-CBC31EF6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/>
          </a:p>
        </p:txBody>
      </p:sp>
      <p:pic>
        <p:nvPicPr>
          <p:cNvPr id="3" name="Image 2" descr="Une image contenant diagramme, Rectangl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29EDD4C7-6E61-3C7F-E5AC-E9DB979DA0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370" y="745268"/>
            <a:ext cx="5350329" cy="381690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F30E10D-3898-C526-8F62-F1D7BF2C08C9}"/>
              </a:ext>
            </a:extLst>
          </p:cNvPr>
          <p:cNvSpPr txBox="1"/>
          <p:nvPr/>
        </p:nvSpPr>
        <p:spPr>
          <a:xfrm>
            <a:off x="3046640" y="15584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(Âge ↔ Catégorie)</a:t>
            </a:r>
          </a:p>
        </p:txBody>
      </p:sp>
    </p:spTree>
    <p:extLst>
      <p:ext uri="{BB962C8B-B14F-4D97-AF65-F5344CB8AC3E}">
        <p14:creationId xmlns:p14="http://schemas.microsoft.com/office/powerpoint/2010/main" val="272079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023CBC-B0B2-3C64-FB03-4C3EDF1D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52C8-A65D-F641-BBCE-A9A8E0445E82}" type="datetime1">
              <a:rPr lang="fr-FR" smtClean="0"/>
              <a:t>16/02/2026</a:t>
            </a:fld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D08793-9A09-828B-9DF9-35CA7DE1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85F3486-4D16-00A9-B7A5-91F7660AC123}"/>
              </a:ext>
            </a:extLst>
          </p:cNvPr>
          <p:cNvSpPr txBox="1"/>
          <p:nvPr/>
        </p:nvSpPr>
        <p:spPr>
          <a:xfrm>
            <a:off x="4580708" y="2636041"/>
            <a:ext cx="3030583" cy="1089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Britannic Bold" panose="020B0903060703020204" pitchFamily="34" charset="77"/>
                <a:ea typeface="+mj-ea"/>
                <a:cs typeface="+mj-cs"/>
              </a:defRPr>
            </a:lvl1pPr>
          </a:lstStyle>
          <a:p>
            <a:r>
              <a:rPr lang="fr-FR" sz="66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968269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Type de bois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7916</TotalTime>
  <Words>342</Words>
  <Application>Microsoft Macintosh PowerPoint</Application>
  <PresentationFormat>Grand écran</PresentationFormat>
  <Paragraphs>112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Aptos</vt:lpstr>
      <vt:lpstr>Bookman Old Style</vt:lpstr>
      <vt:lpstr>Britannic Bold</vt:lpstr>
      <vt:lpstr>Calibri</vt:lpstr>
      <vt:lpstr>Century Gothic</vt:lpstr>
      <vt:lpstr>Rockwell Extra Bold</vt:lpstr>
      <vt:lpstr>Wingdings</vt:lpstr>
      <vt:lpstr>Type de bois</vt:lpstr>
      <vt:lpstr>Analysez les ventes d'une librairie </vt:lpstr>
      <vt:lpstr>Présentation PowerPoint</vt:lpstr>
      <vt:lpstr>Objectifs du projet  </vt:lpstr>
      <vt:lpstr>Données &amp; Méthodologie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ABBAKAR</dc:creator>
  <cp:lastModifiedBy>Mohammed ABBAKAR</cp:lastModifiedBy>
  <cp:revision>15</cp:revision>
  <dcterms:created xsi:type="dcterms:W3CDTF">2026-02-09T13:11:11Z</dcterms:created>
  <dcterms:modified xsi:type="dcterms:W3CDTF">2026-02-17T17:17:16Z</dcterms:modified>
</cp:coreProperties>
</file>